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Monthly Sales — 2022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 Sales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119455</c:v>
                </c:pt>
                <c:pt idx="1">
                  <c:v>67679</c:v>
                </c:pt>
                <c:pt idx="2">
                  <c:v>159871</c:v>
                </c:pt>
                <c:pt idx="3">
                  <c:v>133271</c:v>
                </c:pt>
                <c:pt idx="4">
                  <c:v>157229</c:v>
                </c:pt>
                <c:pt idx="5">
                  <c:v>157841</c:v>
                </c:pt>
                <c:pt idx="6">
                  <c:v>143335</c:v>
                </c:pt>
                <c:pt idx="7">
                  <c:v>136328</c:v>
                </c:pt>
                <c:pt idx="8">
                  <c:v>291639</c:v>
                </c:pt>
                <c:pt idx="9">
                  <c:v>207661</c:v>
                </c:pt>
                <c:pt idx="10">
                  <c:v>310156</c:v>
                </c:pt>
                <c:pt idx="11">
                  <c:v>293273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Annual Sales — 2019 to 2022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1516086</c:v>
                </c:pt>
                <c:pt idx="1">
                  <c:v>3095892</c:v>
                </c:pt>
                <c:pt idx="2">
                  <c:v>1630992</c:v>
                </c:pt>
                <c:pt idx="3">
                  <c:v>2177738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YTD Sales by Product Category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YTD Sales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Men Shoes</c:v>
                </c:pt>
                <c:pt idx="1">
                  <c:v>Camera</c:v>
                </c:pt>
                <c:pt idx="2">
                  <c:v>Men Clothes</c:v>
                </c:pt>
                <c:pt idx="3">
                  <c:v>Car Accessories</c:v>
                </c:pt>
                <c:pt idx="4">
                  <c:v>Toys</c:v>
                </c:pt>
                <c:pt idx="5">
                  <c:v>Mobile &amp; Accessories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940266</c:v>
                </c:pt>
                <c:pt idx="1">
                  <c:v>492521</c:v>
                </c:pt>
                <c:pt idx="2">
                  <c:v>357644</c:v>
                </c:pt>
                <c:pt idx="3">
                  <c:v>237290</c:v>
                </c:pt>
                <c:pt idx="4">
                  <c:v>110839</c:v>
                </c:pt>
                <c:pt idx="5">
                  <c:v>39178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Top 5 Products by YTD Sales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Nikon Wide Angle AF Nikkor 24mm f…</c:v>
                </c:pt>
                <c:pt idx="1">
                  <c:v>Atomos Ninja V 5-Inch 4K Photo an…</c:v>
                </c:pt>
                <c:pt idx="2">
                  <c:v>Solid Gear SGUS80006 Hydra GTX BO…</c:v>
                </c:pt>
                <c:pt idx="3">
                  <c:v>Canal Toys Photo Creator Instant …</c:v>
                </c:pt>
                <c:pt idx="4">
                  <c:v>Vince Camuto Men's Lyre Dress Sho…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33550</c:v>
                </c:pt>
                <c:pt idx="1">
                  <c:v>28444</c:v>
                </c:pt>
                <c:pt idx="2">
                  <c:v>26872</c:v>
                </c:pt>
                <c:pt idx="3">
                  <c:v>21624</c:v>
                </c:pt>
                <c:pt idx="4">
                  <c:v>19350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Top 5 Products by YTD Reviews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SanDisk 16GB 3-Pack Ultra microSD…</c:v>
                </c:pt>
                <c:pt idx="1">
                  <c:v>SanDisk 1TB Extreme microSDXC UHS…</c:v>
                </c:pt>
                <c:pt idx="2">
                  <c:v>SanDisk 400GB Ultra microSDXC UHS…</c:v>
                </c:pt>
                <c:pt idx="3">
                  <c:v>JETech Screen Protector for iPhon…</c:v>
                </c:pt>
                <c:pt idx="4">
                  <c:v>WOLVERINE Men's Rancher WPF Steel…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402828</c:v>
                </c:pt>
                <c:pt idx="1">
                  <c:v>337401</c:v>
                </c:pt>
                <c:pt idx="2">
                  <c:v>227962</c:v>
                </c:pt>
                <c:pt idx="3">
                  <c:v>155709</c:v>
                </c:pt>
                <c:pt idx="4">
                  <c:v>139353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F5F5"/>
                </a:solidFill>
              </a:defRPr>
            </a:pPr>
            <a:r>
              <a:t>Amazon Products Sales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E91F0"/>
                </a:solidFill>
              </a:defRPr>
            </a:pPr>
            <a:r>
              <a:t>Power BI Dashboard &amp; Data Analysis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46120"/>
            <a:ext cx="9235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B4B4BE"/>
                </a:solidFill>
              </a:defRPr>
            </a:pPr>
            <a:r>
              <a:t>Analysis of product sales, categories, weekly/monthly trends, product performance and customer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572000"/>
            <a:ext cx="1920240" cy="96012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$2.18M</a:t>
            </a:r>
          </a:p>
          <a:p>
            <a:pPr algn="ctr">
              <a:defRPr sz="1000">
                <a:solidFill>
                  <a:srgbClr val="F5CD2D"/>
                </a:solidFill>
              </a:defRPr>
            </a:pPr>
            <a:r>
              <a:t>2022 YTD Sales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4572000"/>
            <a:ext cx="1920240" cy="96012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27.75K</a:t>
            </a:r>
          </a:p>
          <a:p>
            <a:pPr algn="ctr">
              <a:defRPr sz="1000">
                <a:solidFill>
                  <a:srgbClr val="1E91F0"/>
                </a:solidFill>
              </a:defRPr>
            </a:pPr>
            <a:r>
              <a:t>Products Sold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572000"/>
            <a:ext cx="1920240" cy="96012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19.42M</a:t>
            </a:r>
          </a:p>
          <a:p>
            <a:pPr algn="ctr">
              <a:defRPr sz="1000">
                <a:solidFill>
                  <a:srgbClr val="DC78AA"/>
                </a:solidFill>
              </a:defRPr>
            </a:pPr>
            <a:r>
              <a:t>YTD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Prepared from the supplied Amazon_Combined_Data.xlsx and Power BI dashboard 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Purpose, source data and analysis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5F5F5"/>
                </a:solidFill>
              </a:defRPr>
            </a:pPr>
            <a:r>
              <a:t>• Business objective: understand Amazon product sales performance and identify important category and product trends.</a:t>
            </a:r>
          </a:p>
          <a:p>
            <a:pPr>
              <a:spcAft>
                <a:spcPts val="900"/>
              </a:spcAft>
              <a:defRPr sz="1700">
                <a:solidFill>
                  <a:srgbClr val="F5F5F5"/>
                </a:solidFill>
              </a:defRPr>
            </a:pPr>
            <a:r>
              <a:t>• Source workbook: Amazon_Combined_Data.xlsx with 89,082 records and 6 fields.</a:t>
            </a:r>
          </a:p>
          <a:p>
            <a:pPr>
              <a:spcAft>
                <a:spcPts val="900"/>
              </a:spcAft>
              <a:defRPr sz="1700">
                <a:solidFill>
                  <a:srgbClr val="F5F5F5"/>
                </a:solidFill>
              </a:defRPr>
            </a:pPr>
            <a:r>
              <a:t>• Dataset period: 3 January 2019 to 31 December 2022.</a:t>
            </a:r>
          </a:p>
          <a:p>
            <a:pPr>
              <a:spcAft>
                <a:spcPts val="900"/>
              </a:spcAft>
              <a:defRPr sz="1700">
                <a:solidFill>
                  <a:srgbClr val="F5F5F5"/>
                </a:solidFill>
              </a:defRPr>
            </a:pPr>
            <a:r>
              <a:t>• Dashboard focus: 2022 YTD performance, with Q4 used for the QTD view.</a:t>
            </a:r>
          </a:p>
          <a:p>
            <a:pPr>
              <a:spcAft>
                <a:spcPts val="900"/>
              </a:spcAft>
              <a:defRPr sz="1700">
                <a:solidFill>
                  <a:srgbClr val="F5F5F5"/>
                </a:solidFill>
              </a:defRPr>
            </a:pPr>
            <a:r>
              <a:t>• Key dimensions: Product Category, Product Description, Price, Reviews, Shipment and Order 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25880"/>
            <a:ext cx="1737360" cy="100584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89,082</a:t>
            </a:r>
          </a:p>
          <a:p>
            <a:pPr algn="ctr">
              <a:defRPr sz="1000">
                <a:solidFill>
                  <a:srgbClr val="1E91F0"/>
                </a:solidFill>
              </a:defRPr>
            </a:pPr>
            <a:r>
              <a:t>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325880"/>
            <a:ext cx="1737360" cy="100584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6</a:t>
            </a:r>
          </a:p>
          <a:p>
            <a:pPr algn="ctr">
              <a:defRPr sz="1000">
                <a:solidFill>
                  <a:srgbClr val="F5CD2D"/>
                </a:solidFill>
              </a:defRPr>
            </a:pPr>
            <a:r>
              <a:t>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606040"/>
            <a:ext cx="1737360" cy="100584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8</a:t>
            </a:r>
          </a:p>
          <a:p>
            <a:pPr algn="ctr">
              <a:defRPr sz="1000">
                <a:solidFill>
                  <a:srgbClr val="DC78AA"/>
                </a:solidFill>
              </a:defRPr>
            </a:pPr>
            <a:r>
              <a:t>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606040"/>
            <a:ext cx="1737360" cy="100584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67,942</a:t>
            </a:r>
          </a:p>
          <a:p>
            <a:pPr algn="ctr">
              <a:defRPr sz="1000">
                <a:solidFill>
                  <a:srgbClr val="1E91F0"/>
                </a:solidFill>
              </a:defRPr>
            </a:pPr>
            <a:r>
              <a:t>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886200"/>
            <a:ext cx="1737360" cy="100584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0</a:t>
            </a:r>
          </a:p>
          <a:p>
            <a:pPr algn="ctr">
              <a:defRPr sz="1000">
                <a:solidFill>
                  <a:srgbClr val="F5CD2D"/>
                </a:solidFill>
              </a:defRPr>
            </a:pPr>
            <a:r>
              <a:t>Missing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3886200"/>
            <a:ext cx="1737360" cy="100584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2019–2022</a:t>
            </a:r>
          </a:p>
          <a:p>
            <a:pPr algn="ctr">
              <a:defRPr sz="1000">
                <a:solidFill>
                  <a:srgbClr val="DC78AA"/>
                </a:solidFill>
              </a:defRPr>
            </a:pPr>
            <a:r>
              <a:t>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Source: Amazon_Combined_Data.xlsx | Dashboard focus: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2. Data Preparation &amp;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Steps used to make the dataset analysis-ready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Loaded the Excel dataset into the analysis workflow.</a:t>
            </a:r>
          </a:p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Converted Order Date into a date field for year, month, quarter and week analysis.</a:t>
            </a:r>
          </a:p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Validated missing values: no missing values were found in the six source columns.</a:t>
            </a:r>
          </a:p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Filtered the analysis year to 2022 to align with the dashboard's YTD metrics.</a:t>
            </a:r>
          </a:p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Created grouped calculations for sales, product count and review totals.</a:t>
            </a:r>
          </a:p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Derived category, monthly, weekly and top-product summaries for dashboard visuals.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35240" y="1234440"/>
          <a:ext cx="3657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325880"/>
              </a:tblGrid>
              <a:tr h="48332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E91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91F0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Product Category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Product Description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Price(Dollar)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Number of reviews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Shipment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Order Date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5F5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Source: Amazon_Combined_Data.xlsx | Dashboard focus: 2022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3. 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Interactive one-page view of 2022 Amazon product performance</a:t>
            </a:r>
          </a:p>
        </p:txBody>
      </p:sp>
      <p:pic>
        <p:nvPicPr>
          <p:cNvPr id="4" name="Picture 3" descr="a3ca44c4-7990-4e14-baa2-9ae054bc45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201400" cy="6386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Dashboard image supplied in the conversation | Metrics cross-checked against the Excel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4. KPI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Headline metrics shown on the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514600" cy="137160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$2.18M</a:t>
            </a:r>
          </a:p>
          <a:p>
            <a:pPr algn="ctr">
              <a:defRPr sz="1000">
                <a:solidFill>
                  <a:srgbClr val="F5CD2D"/>
                </a:solidFill>
              </a:defRPr>
            </a:pPr>
            <a:r>
              <a:t>YTD Sales (2022)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25880"/>
            <a:ext cx="2514600" cy="137160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$811.09K</a:t>
            </a:r>
          </a:p>
          <a:p>
            <a:pPr algn="ctr">
              <a:defRPr sz="1000">
                <a:solidFill>
                  <a:srgbClr val="1E91F0"/>
                </a:solidFill>
              </a:defRPr>
            </a:pPr>
            <a:r>
              <a:t>QTD Sales (Q4 2022)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325880"/>
            <a:ext cx="2514600" cy="137160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27.75K</a:t>
            </a:r>
          </a:p>
          <a:p>
            <a:pPr algn="ctr">
              <a:defRPr sz="1000">
                <a:solidFill>
                  <a:srgbClr val="1E91F0"/>
                </a:solidFill>
              </a:defRPr>
            </a:pPr>
            <a:r>
              <a:t>YTD Products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25880"/>
            <a:ext cx="2514600" cy="137160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19.42M</a:t>
            </a:r>
          </a:p>
          <a:p>
            <a:pPr algn="ctr">
              <a:defRPr sz="1000">
                <a:solidFill>
                  <a:srgbClr val="DC78AA"/>
                </a:solidFill>
              </a:defRPr>
            </a:pPr>
            <a:r>
              <a:t>YTD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5F5F5"/>
                </a:solidFill>
              </a:defRPr>
            </a:pPr>
            <a:r>
              <a:t>• 2022 generated $2,177,738 in recorded product-price value.</a:t>
            </a:r>
          </a:p>
          <a:p>
            <a:pPr>
              <a:spcAft>
                <a:spcPts val="900"/>
              </a:spcAft>
              <a:defRPr sz="1700">
                <a:solidFill>
                  <a:srgbClr val="F5F5F5"/>
                </a:solidFill>
              </a:defRPr>
            </a:pPr>
            <a:r>
              <a:t>• Q4 contributed $811,090, approximately 37.2% of 2022 sales.</a:t>
            </a:r>
          </a:p>
          <a:p>
            <a:pPr>
              <a:spcAft>
                <a:spcPts val="900"/>
              </a:spcAft>
              <a:defRPr sz="1700">
                <a:solidFill>
                  <a:srgbClr val="F5F5F5"/>
                </a:solidFill>
              </a:defRPr>
            </a:pPr>
            <a:r>
              <a:t>• The dataset contains 27,747 2022 records, represented as about 27.75K products sold on the dashboard.</a:t>
            </a:r>
          </a:p>
          <a:p>
            <a:pPr>
              <a:spcAft>
                <a:spcPts val="900"/>
              </a:spcAft>
              <a:defRPr sz="1700">
                <a:solidFill>
                  <a:srgbClr val="F5F5F5"/>
                </a:solidFill>
              </a:defRPr>
            </a:pPr>
            <a:r>
              <a:t>• Recorded 2022 review volume totals 19,418,698, shown as approximately 19.42M.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Source: Amazon_Combined_Data.xlsx | Dashboard focus: 2022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5. Sales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Monthly and yearly patterns from the source data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143000"/>
          <a:ext cx="5486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1143000"/>
          <a:ext cx="507492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5F5"/>
                </a:solidFill>
              </a:defRPr>
            </a:pPr>
            <a:r>
              <a:t>2022 sales peaked in November at $310,156; September and December were also strong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Source: Amazon_Combined_Data.xlsx | Dashboard focus: 2022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6. Product Category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2022 YTD sales contribution by category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143000"/>
          <a:ext cx="557784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37960" y="1234440"/>
          <a:ext cx="48006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08760"/>
                <a:gridCol w="1188720"/>
              </a:tblGrid>
              <a:tr h="646611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E91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YTD Sales</a:t>
                      </a:r>
                    </a:p>
                  </a:txBody>
                  <a:tcPr>
                    <a:solidFill>
                      <a:srgbClr val="1E91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1E91F0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Men Shoes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$940,266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43.18%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Camera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$492,521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22.62%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Men Clothes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$357,644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16.42%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Car Accessories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$237,290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10.90%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Toys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$110,839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5.09%</a:t>
                      </a:r>
                    </a:p>
                  </a:txBody>
                  <a:tcPr>
                    <a:solidFill>
                      <a:srgbClr val="1D1D22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Mobile &amp; Accessories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$39,178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5F5"/>
                          </a:solidFill>
                        </a:defRPr>
                      </a:pPr>
                      <a:r>
                        <a:t>1.80%</a:t>
                      </a:r>
                    </a:p>
                  </a:txBody>
                  <a:tcPr>
                    <a:solidFill>
                      <a:srgbClr val="2424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0" y="58064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F5F5"/>
                </a:solidFill>
              </a:defRPr>
            </a:pPr>
            <a:r>
              <a:t>Men Shoes contributed 43.18% of 2022 sales, followed by Camera at 22.62%.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Source: Amazon_Combined_Data.xlsx | Dashboard focus: 2022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7. Top Product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Products ranked by 2022 sales and review volume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097280"/>
          <a:ext cx="557784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55080" y="1097280"/>
          <a:ext cx="5212080" cy="4983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Source: Amazon_Combined_Data.xlsx | Dashboard focus: 2022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8.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Insights directly supported by the 2022 calculations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331720" cy="109728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Men Shoes</a:t>
            </a:r>
          </a:p>
          <a:p>
            <a:pPr algn="ctr">
              <a:defRPr sz="1000">
                <a:solidFill>
                  <a:srgbClr val="F5CD2D"/>
                </a:solidFill>
              </a:defRPr>
            </a:pPr>
            <a:r>
              <a:t>Top Category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234440"/>
            <a:ext cx="2331720" cy="109728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November</a:t>
            </a:r>
          </a:p>
          <a:p>
            <a:pPr algn="ctr">
              <a:defRPr sz="1000">
                <a:solidFill>
                  <a:srgbClr val="1E91F0"/>
                </a:solidFill>
              </a:defRPr>
            </a:pPr>
            <a:r>
              <a:t>Top 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234440"/>
            <a:ext cx="2331720" cy="109728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Nikon Lens</a:t>
            </a:r>
          </a:p>
          <a:p>
            <a:pPr algn="ctr">
              <a:defRPr sz="1000">
                <a:solidFill>
                  <a:srgbClr val="DC78AA"/>
                </a:solidFill>
              </a:defRPr>
            </a:pPr>
            <a:r>
              <a:t>Top Sales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2331720" cy="1097280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SanDisk 16GB</a:t>
            </a:r>
          </a:p>
          <a:p>
            <a:pPr algn="ctr">
              <a:defRPr sz="1000">
                <a:solidFill>
                  <a:srgbClr val="F5CD2D"/>
                </a:solidFill>
              </a:defRPr>
            </a:pPr>
            <a:r>
              <a:t>Top Review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5F5"/>
                </a:solidFill>
              </a:defRPr>
            </a:pPr>
            <a:r>
              <a:t>• Men Shoes generated $940,266, the largest category contribution in 2022.</a:t>
            </a:r>
          </a:p>
          <a:p>
            <a:pPr>
              <a:spcAft>
                <a:spcPts val="900"/>
              </a:spcAft>
              <a:defRPr sz="1500">
                <a:solidFill>
                  <a:srgbClr val="F5F5F5"/>
                </a:solidFill>
              </a:defRPr>
            </a:pPr>
            <a:r>
              <a:t>• Camera generated $492,521, making it the second-largest category.</a:t>
            </a:r>
          </a:p>
          <a:p>
            <a:pPr>
              <a:spcAft>
                <a:spcPts val="900"/>
              </a:spcAft>
              <a:defRPr sz="1500">
                <a:solidFill>
                  <a:srgbClr val="F5F5F5"/>
                </a:solidFill>
              </a:defRPr>
            </a:pPr>
            <a:r>
              <a:t>• November recorded the highest monthly sales at $310,156.</a:t>
            </a:r>
          </a:p>
          <a:p>
            <a:pPr>
              <a:spcAft>
                <a:spcPts val="900"/>
              </a:spcAft>
              <a:defRPr sz="1500">
                <a:solidFill>
                  <a:srgbClr val="F5F5F5"/>
                </a:solidFill>
              </a:defRPr>
            </a:pPr>
            <a:r>
              <a:t>• The top-selling individual product was the Nikon Wide Angle AF Nikkor 24mm lens with $33,550 in 2022 sales.</a:t>
            </a:r>
          </a:p>
          <a:p>
            <a:pPr>
              <a:spcAft>
                <a:spcPts val="900"/>
              </a:spcAft>
              <a:defRPr sz="1500">
                <a:solidFill>
                  <a:srgbClr val="F5F5F5"/>
                </a:solidFill>
              </a:defRPr>
            </a:pPr>
            <a:r>
              <a:t>• The highest review total among individual products was the SanDisk 16GB 3-Pack with 402,828 reviews.</a:t>
            </a:r>
          </a:p>
          <a:p>
            <a:pPr>
              <a:spcAft>
                <a:spcPts val="900"/>
              </a:spcAft>
              <a:defRPr sz="1500">
                <a:solidFill>
                  <a:srgbClr val="F5F5F5"/>
                </a:solidFill>
              </a:defRPr>
            </a:pPr>
            <a:r>
              <a:t>• Q4 sales were $811,090, representing 37.2% of 2022 sales.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Source: Amazon_Combined_Data.xlsx | Dashboard focus: 2022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9. 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How the report supports exploration and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KPI cards provide a quick view of YTD sales, QTD sales, products sold and reviews.</a:t>
            </a:r>
          </a:p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Monthly line chart highlights changes in sales across the year.</a:t>
            </a:r>
          </a:p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Weekly column chart shows week-by-week sales movement.</a:t>
            </a:r>
          </a:p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Category table compares YTD sales, QTD sales and percentage contribution.</a:t>
            </a:r>
          </a:p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Top-5 visuals identify leading products by sales and review volume.</a:t>
            </a:r>
          </a:p>
          <a:p>
            <a:pPr>
              <a:spcAft>
                <a:spcPts val="900"/>
              </a:spcAft>
              <a:defRPr sz="1600">
                <a:solidFill>
                  <a:srgbClr val="F5F5F5"/>
                </a:solidFill>
              </a:defRPr>
            </a:pPr>
            <a:r>
              <a:t>• Product Category and Quarter slicers allow the user to interact with the report.</a:t>
            </a:r>
          </a:p>
        </p:txBody>
      </p:sp>
      <p:pic>
        <p:nvPicPr>
          <p:cNvPr id="5" name="Picture 4" descr="a3ca44c4-7990-4e14-baa2-9ae054bc45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069080" cy="23198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Source: Amazon_Combined_Data.xlsx | Dashboard focus: 2022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10. Tools &amp;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Technical skills applied in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561320" cy="658368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91F0"/>
                </a:solidFill>
              </a:defRPr>
            </a:pPr>
            <a:r>
              <a:t>Excel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— Source data handling and workbook-based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39112"/>
            <a:ext cx="10561320" cy="658368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91F0"/>
                </a:solidFill>
              </a:defRPr>
            </a:pPr>
            <a:r>
              <a:t>Power BI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— Interactive dashboard development and visual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43784"/>
            <a:ext cx="10561320" cy="658368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91F0"/>
                </a:solidFill>
              </a:defRPr>
            </a:pPr>
            <a:r>
              <a:t>Power Query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— Data loading, cleaning and transformation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48456"/>
            <a:ext cx="10561320" cy="658368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91F0"/>
                </a:solidFill>
              </a:defRPr>
            </a:pPr>
            <a:r>
              <a:t>DAX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— Measures, KPIs and analytical calculations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53128"/>
            <a:ext cx="10561320" cy="658368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91F0"/>
                </a:solidFill>
              </a:defRPr>
            </a:pPr>
            <a:r>
              <a:t>Data Analysis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— Trend, category and product performance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257800"/>
            <a:ext cx="10561320" cy="658368"/>
          </a:xfrm>
          <a:prstGeom prst="roundRect">
            <a:avLst/>
          </a:prstGeom>
          <a:solidFill>
            <a:srgbClr val="1D1D22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91F0"/>
                </a:solidFill>
              </a:defRPr>
            </a:pPr>
            <a:r>
              <a:t>Data Visualization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 — Charts, KPI cards, tables and slicers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Source: Amazon_Combined_Data.xlsx | Dashboard focus: 2022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E"/>
                </a:solidFill>
              </a:defRPr>
            </a:pPr>
            <a:r>
              <a:t>Summary of the completed Amazon Products Sales Analysis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5F5F5"/>
                </a:solidFill>
              </a:defRPr>
            </a:pPr>
            <a:r>
              <a:t>• The analysis covers 89,082 records from 2019–2022, with the dashboard focused on 2022.</a:t>
            </a:r>
          </a:p>
          <a:p>
            <a:pPr>
              <a:spcAft>
                <a:spcPts val="900"/>
              </a:spcAft>
              <a:defRPr sz="1800">
                <a:solidFill>
                  <a:srgbClr val="F5F5F5"/>
                </a:solidFill>
              </a:defRPr>
            </a:pPr>
            <a:r>
              <a:t>• 2022 recorded $2,177,738 in sales and 27,747 product records.</a:t>
            </a:r>
          </a:p>
          <a:p>
            <a:pPr>
              <a:spcAft>
                <a:spcPts val="900"/>
              </a:spcAft>
              <a:defRPr sz="1800">
                <a:solidFill>
                  <a:srgbClr val="F5F5F5"/>
                </a:solidFill>
              </a:defRPr>
            </a:pPr>
            <a:r>
              <a:t>• Men Shoes was the largest sales category, contributing 43.18% of 2022 sales.</a:t>
            </a:r>
          </a:p>
          <a:p>
            <a:pPr>
              <a:spcAft>
                <a:spcPts val="900"/>
              </a:spcAft>
              <a:defRPr sz="1800">
                <a:solidFill>
                  <a:srgbClr val="F5F5F5"/>
                </a:solidFill>
              </a:defRPr>
            </a:pPr>
            <a:r>
              <a:t>• The dashboard combines KPI monitoring, time-series analysis, category comparison and top-product analysis in one page.</a:t>
            </a:r>
          </a:p>
          <a:p>
            <a:pPr>
              <a:spcAft>
                <a:spcPts val="900"/>
              </a:spcAft>
              <a:defRPr sz="1800">
                <a:solidFill>
                  <a:srgbClr val="F5F5F5"/>
                </a:solidFill>
              </a:defRPr>
            </a:pPr>
            <a:r>
              <a:t>• The project demonstrates an end-to-end workflow from Excel source data to Power BI dashboard and business-focused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53212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91F0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B4BE"/>
                </a:solidFill>
              </a:defRPr>
            </a:pPr>
            <a:r>
              <a:t>Source: Amazon_Combined_Data.xlsx | Dashboard focus: 2022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